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58A39C-C671-4175-B947-D5FE39C07712}" v="34" dt="2026-03-31T11:21:44.0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C31A5E8-F19B-404C-A028-D4AA6FB2727C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8829AF2-01AD-4216-B75C-B9B0096A4FE9}">
      <dgm:prSet/>
      <dgm:spPr/>
      <dgm:t>
        <a:bodyPr/>
        <a:lstStyle/>
        <a:p>
          <a:r>
            <a:rPr lang="de-DE" dirty="0"/>
            <a:t>Was ist JavaScript ?</a:t>
          </a:r>
          <a:endParaRPr lang="en-US" dirty="0"/>
        </a:p>
      </dgm:t>
    </dgm:pt>
    <dgm:pt modelId="{40C63CD2-5218-4CD7-8A38-40B9D48B4805}" type="parTrans" cxnId="{F6D3394E-770E-499F-95A5-360B77FDF34C}">
      <dgm:prSet/>
      <dgm:spPr/>
      <dgm:t>
        <a:bodyPr/>
        <a:lstStyle/>
        <a:p>
          <a:endParaRPr lang="en-US"/>
        </a:p>
      </dgm:t>
    </dgm:pt>
    <dgm:pt modelId="{60F248C3-78A7-4DB3-97C5-A7888A5B07E0}" type="sibTrans" cxnId="{F6D3394E-770E-499F-95A5-360B77FDF34C}">
      <dgm:prSet/>
      <dgm:spPr/>
      <dgm:t>
        <a:bodyPr/>
        <a:lstStyle/>
        <a:p>
          <a:endParaRPr lang="en-US"/>
        </a:p>
      </dgm:t>
    </dgm:pt>
    <dgm:pt modelId="{EF97F688-1151-4DDC-8B10-237B47049525}">
      <dgm:prSet/>
      <dgm:spPr/>
      <dgm:t>
        <a:bodyPr/>
        <a:lstStyle/>
        <a:p>
          <a:r>
            <a:rPr lang="de-DE" dirty="0"/>
            <a:t>JS und Browser</a:t>
          </a:r>
          <a:endParaRPr lang="en-US" dirty="0"/>
        </a:p>
      </dgm:t>
    </dgm:pt>
    <dgm:pt modelId="{ED2EB5DD-F2E3-4630-8A95-E32C880C3141}" type="parTrans" cxnId="{24D410A4-77D8-4F3F-B6DD-4B2D8088B4B7}">
      <dgm:prSet/>
      <dgm:spPr/>
      <dgm:t>
        <a:bodyPr/>
        <a:lstStyle/>
        <a:p>
          <a:endParaRPr lang="en-US"/>
        </a:p>
      </dgm:t>
    </dgm:pt>
    <dgm:pt modelId="{69AD34D8-61E2-464B-9178-901D6246D48A}" type="sibTrans" cxnId="{24D410A4-77D8-4F3F-B6DD-4B2D8088B4B7}">
      <dgm:prSet/>
      <dgm:spPr/>
      <dgm:t>
        <a:bodyPr/>
        <a:lstStyle/>
        <a:p>
          <a:endParaRPr lang="en-US"/>
        </a:p>
      </dgm:t>
    </dgm:pt>
    <dgm:pt modelId="{075D1F1E-D5CC-4F99-9255-F0ABE603F8CE}">
      <dgm:prSet/>
      <dgm:spPr/>
      <dgm:t>
        <a:bodyPr/>
        <a:lstStyle/>
        <a:p>
          <a:r>
            <a:rPr lang="en-US" dirty="0" err="1"/>
            <a:t>Grundlagen</a:t>
          </a:r>
          <a:endParaRPr lang="en-US" dirty="0"/>
        </a:p>
      </dgm:t>
    </dgm:pt>
    <dgm:pt modelId="{ABD917D9-EBF0-40B8-8786-00F6B31FEDB4}" type="parTrans" cxnId="{6F1F1578-27C5-4A58-8741-1A82E29B5A86}">
      <dgm:prSet/>
      <dgm:spPr/>
      <dgm:t>
        <a:bodyPr/>
        <a:lstStyle/>
        <a:p>
          <a:endParaRPr lang="en-US"/>
        </a:p>
      </dgm:t>
    </dgm:pt>
    <dgm:pt modelId="{946DFA82-1DD6-47E5-A0FE-9662FAEEFED9}" type="sibTrans" cxnId="{6F1F1578-27C5-4A58-8741-1A82E29B5A86}">
      <dgm:prSet/>
      <dgm:spPr/>
      <dgm:t>
        <a:bodyPr/>
        <a:lstStyle/>
        <a:p>
          <a:endParaRPr lang="en-US"/>
        </a:p>
      </dgm:t>
    </dgm:pt>
    <dgm:pt modelId="{33D7C58E-907A-4805-8D40-2A6AE77956B7}">
      <dgm:prSet/>
      <dgm:spPr/>
      <dgm:t>
        <a:bodyPr/>
        <a:lstStyle/>
        <a:p>
          <a:r>
            <a:rPr lang="de-DE" dirty="0"/>
            <a:t>Zusammenfassung</a:t>
          </a:r>
          <a:endParaRPr lang="en-US" dirty="0"/>
        </a:p>
      </dgm:t>
    </dgm:pt>
    <dgm:pt modelId="{9FC8E6CD-7F2B-4AB8-A020-71AFF9B916D5}" type="parTrans" cxnId="{E29E9D87-DBF4-40D0-A59D-436E0966EFC9}">
      <dgm:prSet/>
      <dgm:spPr/>
      <dgm:t>
        <a:bodyPr/>
        <a:lstStyle/>
        <a:p>
          <a:endParaRPr lang="en-US"/>
        </a:p>
      </dgm:t>
    </dgm:pt>
    <dgm:pt modelId="{BC7EF5B1-5EA3-4174-BB9F-80BB5A126029}" type="sibTrans" cxnId="{E29E9D87-DBF4-40D0-A59D-436E0966EFC9}">
      <dgm:prSet/>
      <dgm:spPr/>
      <dgm:t>
        <a:bodyPr/>
        <a:lstStyle/>
        <a:p>
          <a:endParaRPr lang="en-US"/>
        </a:p>
      </dgm:t>
    </dgm:pt>
    <dgm:pt modelId="{132C48A1-1F7E-47C4-A617-E2BE14C084CA}">
      <dgm:prSet/>
      <dgm:spPr/>
      <dgm:t>
        <a:bodyPr/>
        <a:lstStyle/>
        <a:p>
          <a:r>
            <a:rPr lang="en-US" dirty="0" err="1"/>
            <a:t>Aufgabenbeispiel</a:t>
          </a:r>
          <a:endParaRPr lang="en-US" dirty="0"/>
        </a:p>
      </dgm:t>
    </dgm:pt>
    <dgm:pt modelId="{3B257CC4-7CB8-4267-92C0-23412B2F02C0}" type="parTrans" cxnId="{2122CE6A-0FE6-43DE-BAD0-FCC7AEDCFBE1}">
      <dgm:prSet/>
      <dgm:spPr/>
      <dgm:t>
        <a:bodyPr/>
        <a:lstStyle/>
        <a:p>
          <a:endParaRPr lang="en-US"/>
        </a:p>
      </dgm:t>
    </dgm:pt>
    <dgm:pt modelId="{43E655C1-4BE5-453C-92CA-7AD09BFAB674}" type="sibTrans" cxnId="{2122CE6A-0FE6-43DE-BAD0-FCC7AEDCFBE1}">
      <dgm:prSet/>
      <dgm:spPr/>
      <dgm:t>
        <a:bodyPr/>
        <a:lstStyle/>
        <a:p>
          <a:endParaRPr lang="en-US"/>
        </a:p>
      </dgm:t>
    </dgm:pt>
    <dgm:pt modelId="{0DFE01D3-F6BE-4135-B846-5F607D1760C5}" type="pres">
      <dgm:prSet presAssocID="{CC31A5E8-F19B-404C-A028-D4AA6FB2727C}" presName="linear" presStyleCnt="0">
        <dgm:presLayoutVars>
          <dgm:animLvl val="lvl"/>
          <dgm:resizeHandles val="exact"/>
        </dgm:presLayoutVars>
      </dgm:prSet>
      <dgm:spPr/>
    </dgm:pt>
    <dgm:pt modelId="{91556FAA-5051-460E-912C-95D5CF3C15EF}" type="pres">
      <dgm:prSet presAssocID="{78829AF2-01AD-4216-B75C-B9B0096A4FE9}" presName="parentText" presStyleLbl="node1" presStyleIdx="0" presStyleCnt="5" custLinFactY="6283" custLinFactNeighborX="-88" custLinFactNeighborY="100000">
        <dgm:presLayoutVars>
          <dgm:chMax val="0"/>
          <dgm:bulletEnabled val="1"/>
        </dgm:presLayoutVars>
      </dgm:prSet>
      <dgm:spPr/>
    </dgm:pt>
    <dgm:pt modelId="{A774C286-F192-4BEB-9D1E-6126AB789AF4}" type="pres">
      <dgm:prSet presAssocID="{60F248C3-78A7-4DB3-97C5-A7888A5B07E0}" presName="spacer" presStyleCnt="0"/>
      <dgm:spPr/>
    </dgm:pt>
    <dgm:pt modelId="{BCAE0300-9A51-4C7A-AEA9-9FE88CF30049}" type="pres">
      <dgm:prSet presAssocID="{EF97F688-1151-4DDC-8B10-237B47049525}" presName="parentText" presStyleLbl="node1" presStyleIdx="1" presStyleCnt="5" custLinFactNeighborX="-88" custLinFactNeighborY="93476">
        <dgm:presLayoutVars>
          <dgm:chMax val="0"/>
          <dgm:bulletEnabled val="1"/>
        </dgm:presLayoutVars>
      </dgm:prSet>
      <dgm:spPr/>
    </dgm:pt>
    <dgm:pt modelId="{B4832A0D-2E7D-40E7-BC58-263828F886B9}" type="pres">
      <dgm:prSet presAssocID="{69AD34D8-61E2-464B-9178-901D6246D48A}" presName="spacer" presStyleCnt="0"/>
      <dgm:spPr/>
    </dgm:pt>
    <dgm:pt modelId="{D436D81F-BF92-4903-BD07-B8891BAB41A6}" type="pres">
      <dgm:prSet presAssocID="{075D1F1E-D5CC-4F99-9255-F0ABE603F8CE}" presName="parentText" presStyleLbl="node1" presStyleIdx="2" presStyleCnt="5" custLinFactNeighborX="-88" custLinFactNeighborY="53223">
        <dgm:presLayoutVars>
          <dgm:chMax val="0"/>
          <dgm:bulletEnabled val="1"/>
        </dgm:presLayoutVars>
      </dgm:prSet>
      <dgm:spPr/>
    </dgm:pt>
    <dgm:pt modelId="{9D6FE419-BE79-476E-BF02-C572CCAA336B}" type="pres">
      <dgm:prSet presAssocID="{946DFA82-1DD6-47E5-A0FE-9662FAEEFED9}" presName="spacer" presStyleCnt="0"/>
      <dgm:spPr/>
    </dgm:pt>
    <dgm:pt modelId="{15CEC745-3038-4052-9474-7F8B2FDD1BBB}" type="pres">
      <dgm:prSet presAssocID="{33D7C58E-907A-4805-8D40-2A6AE77956B7}" presName="parentText" presStyleLbl="node1" presStyleIdx="3" presStyleCnt="5" custLinFactNeighborX="690" custLinFactNeighborY="-12329">
        <dgm:presLayoutVars>
          <dgm:chMax val="0"/>
          <dgm:bulletEnabled val="1"/>
        </dgm:presLayoutVars>
      </dgm:prSet>
      <dgm:spPr/>
    </dgm:pt>
    <dgm:pt modelId="{358338A1-5013-463E-A63A-8B61D72A6D89}" type="pres">
      <dgm:prSet presAssocID="{BC7EF5B1-5EA3-4174-BB9F-80BB5A126029}" presName="spacer" presStyleCnt="0"/>
      <dgm:spPr/>
    </dgm:pt>
    <dgm:pt modelId="{FC36A366-2244-4CC8-BB9A-8F64177B1F29}" type="pres">
      <dgm:prSet presAssocID="{132C48A1-1F7E-47C4-A617-E2BE14C084CA}" presName="parentText" presStyleLbl="node1" presStyleIdx="4" presStyleCnt="5" custLinFactNeighborX="-88" custLinFactNeighborY="-54442">
        <dgm:presLayoutVars>
          <dgm:chMax val="0"/>
          <dgm:bulletEnabled val="1"/>
        </dgm:presLayoutVars>
      </dgm:prSet>
      <dgm:spPr/>
    </dgm:pt>
  </dgm:ptLst>
  <dgm:cxnLst>
    <dgm:cxn modelId="{F7967804-BABF-4791-8164-E3D9C29A33E0}" type="presOf" srcId="{075D1F1E-D5CC-4F99-9255-F0ABE603F8CE}" destId="{D436D81F-BF92-4903-BD07-B8891BAB41A6}" srcOrd="0" destOrd="0" presId="urn:microsoft.com/office/officeart/2005/8/layout/vList2"/>
    <dgm:cxn modelId="{15597B18-B806-45EC-A400-870FFD3BA700}" type="presOf" srcId="{33D7C58E-907A-4805-8D40-2A6AE77956B7}" destId="{15CEC745-3038-4052-9474-7F8B2FDD1BBB}" srcOrd="0" destOrd="0" presId="urn:microsoft.com/office/officeart/2005/8/layout/vList2"/>
    <dgm:cxn modelId="{D3CBA731-58FB-450C-8366-89B6744372F5}" type="presOf" srcId="{78829AF2-01AD-4216-B75C-B9B0096A4FE9}" destId="{91556FAA-5051-460E-912C-95D5CF3C15EF}" srcOrd="0" destOrd="0" presId="urn:microsoft.com/office/officeart/2005/8/layout/vList2"/>
    <dgm:cxn modelId="{2122CE6A-0FE6-43DE-BAD0-FCC7AEDCFBE1}" srcId="{CC31A5E8-F19B-404C-A028-D4AA6FB2727C}" destId="{132C48A1-1F7E-47C4-A617-E2BE14C084CA}" srcOrd="4" destOrd="0" parTransId="{3B257CC4-7CB8-4267-92C0-23412B2F02C0}" sibTransId="{43E655C1-4BE5-453C-92CA-7AD09BFAB674}"/>
    <dgm:cxn modelId="{732C184D-D0C9-479F-8D30-17DBA314DA04}" type="presOf" srcId="{CC31A5E8-F19B-404C-A028-D4AA6FB2727C}" destId="{0DFE01D3-F6BE-4135-B846-5F607D1760C5}" srcOrd="0" destOrd="0" presId="urn:microsoft.com/office/officeart/2005/8/layout/vList2"/>
    <dgm:cxn modelId="{F6D3394E-770E-499F-95A5-360B77FDF34C}" srcId="{CC31A5E8-F19B-404C-A028-D4AA6FB2727C}" destId="{78829AF2-01AD-4216-B75C-B9B0096A4FE9}" srcOrd="0" destOrd="0" parTransId="{40C63CD2-5218-4CD7-8A38-40B9D48B4805}" sibTransId="{60F248C3-78A7-4DB3-97C5-A7888A5B07E0}"/>
    <dgm:cxn modelId="{6F1F1578-27C5-4A58-8741-1A82E29B5A86}" srcId="{CC31A5E8-F19B-404C-A028-D4AA6FB2727C}" destId="{075D1F1E-D5CC-4F99-9255-F0ABE603F8CE}" srcOrd="2" destOrd="0" parTransId="{ABD917D9-EBF0-40B8-8786-00F6B31FEDB4}" sibTransId="{946DFA82-1DD6-47E5-A0FE-9662FAEEFED9}"/>
    <dgm:cxn modelId="{E29E9D87-DBF4-40D0-A59D-436E0966EFC9}" srcId="{CC31A5E8-F19B-404C-A028-D4AA6FB2727C}" destId="{33D7C58E-907A-4805-8D40-2A6AE77956B7}" srcOrd="3" destOrd="0" parTransId="{9FC8E6CD-7F2B-4AB8-A020-71AFF9B916D5}" sibTransId="{BC7EF5B1-5EA3-4174-BB9F-80BB5A126029}"/>
    <dgm:cxn modelId="{6D927EA0-2898-45FA-B26F-EE2163BC3724}" type="presOf" srcId="{EF97F688-1151-4DDC-8B10-237B47049525}" destId="{BCAE0300-9A51-4C7A-AEA9-9FE88CF30049}" srcOrd="0" destOrd="0" presId="urn:microsoft.com/office/officeart/2005/8/layout/vList2"/>
    <dgm:cxn modelId="{24D410A4-77D8-4F3F-B6DD-4B2D8088B4B7}" srcId="{CC31A5E8-F19B-404C-A028-D4AA6FB2727C}" destId="{EF97F688-1151-4DDC-8B10-237B47049525}" srcOrd="1" destOrd="0" parTransId="{ED2EB5DD-F2E3-4630-8A95-E32C880C3141}" sibTransId="{69AD34D8-61E2-464B-9178-901D6246D48A}"/>
    <dgm:cxn modelId="{80A8A0E6-7C16-46F8-B40C-1B5B87D77E2F}" type="presOf" srcId="{132C48A1-1F7E-47C4-A617-E2BE14C084CA}" destId="{FC36A366-2244-4CC8-BB9A-8F64177B1F29}" srcOrd="0" destOrd="0" presId="urn:microsoft.com/office/officeart/2005/8/layout/vList2"/>
    <dgm:cxn modelId="{A3EFDD40-5E75-468B-B69D-AA776BDC0A97}" type="presParOf" srcId="{0DFE01D3-F6BE-4135-B846-5F607D1760C5}" destId="{91556FAA-5051-460E-912C-95D5CF3C15EF}" srcOrd="0" destOrd="0" presId="urn:microsoft.com/office/officeart/2005/8/layout/vList2"/>
    <dgm:cxn modelId="{36980574-3663-4AF8-A320-1D23763DF73A}" type="presParOf" srcId="{0DFE01D3-F6BE-4135-B846-5F607D1760C5}" destId="{A774C286-F192-4BEB-9D1E-6126AB789AF4}" srcOrd="1" destOrd="0" presId="urn:microsoft.com/office/officeart/2005/8/layout/vList2"/>
    <dgm:cxn modelId="{06C3A433-2C76-418F-BBFC-9A2AE3651DBC}" type="presParOf" srcId="{0DFE01D3-F6BE-4135-B846-5F607D1760C5}" destId="{BCAE0300-9A51-4C7A-AEA9-9FE88CF30049}" srcOrd="2" destOrd="0" presId="urn:microsoft.com/office/officeart/2005/8/layout/vList2"/>
    <dgm:cxn modelId="{1BA7FCCA-A99B-4C1C-935E-4DEDCE760C74}" type="presParOf" srcId="{0DFE01D3-F6BE-4135-B846-5F607D1760C5}" destId="{B4832A0D-2E7D-40E7-BC58-263828F886B9}" srcOrd="3" destOrd="0" presId="urn:microsoft.com/office/officeart/2005/8/layout/vList2"/>
    <dgm:cxn modelId="{AFBBADB4-C1CA-468E-851A-8AD85FD10E9A}" type="presParOf" srcId="{0DFE01D3-F6BE-4135-B846-5F607D1760C5}" destId="{D436D81F-BF92-4903-BD07-B8891BAB41A6}" srcOrd="4" destOrd="0" presId="urn:microsoft.com/office/officeart/2005/8/layout/vList2"/>
    <dgm:cxn modelId="{1BD40CAB-05DB-4D25-9947-CB7753A43DBC}" type="presParOf" srcId="{0DFE01D3-F6BE-4135-B846-5F607D1760C5}" destId="{9D6FE419-BE79-476E-BF02-C572CCAA336B}" srcOrd="5" destOrd="0" presId="urn:microsoft.com/office/officeart/2005/8/layout/vList2"/>
    <dgm:cxn modelId="{449A1C0A-08FB-4EF7-918E-F61C669789E9}" type="presParOf" srcId="{0DFE01D3-F6BE-4135-B846-5F607D1760C5}" destId="{15CEC745-3038-4052-9474-7F8B2FDD1BBB}" srcOrd="6" destOrd="0" presId="urn:microsoft.com/office/officeart/2005/8/layout/vList2"/>
    <dgm:cxn modelId="{A14921E6-74A9-40D7-B42E-22307FC2449F}" type="presParOf" srcId="{0DFE01D3-F6BE-4135-B846-5F607D1760C5}" destId="{358338A1-5013-463E-A63A-8B61D72A6D89}" srcOrd="7" destOrd="0" presId="urn:microsoft.com/office/officeart/2005/8/layout/vList2"/>
    <dgm:cxn modelId="{CAE74747-53F2-40C1-B134-D6108D7BC329}" type="presParOf" srcId="{0DFE01D3-F6BE-4135-B846-5F607D1760C5}" destId="{FC36A366-2244-4CC8-BB9A-8F64177B1F29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556FAA-5051-460E-912C-95D5CF3C15EF}">
      <dsp:nvSpPr>
        <dsp:cNvPr id="0" name=""/>
        <dsp:cNvSpPr/>
      </dsp:nvSpPr>
      <dsp:spPr>
        <a:xfrm>
          <a:off x="0" y="219630"/>
          <a:ext cx="6628804" cy="8658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700" kern="1200" dirty="0"/>
            <a:t>Was ist JavaScript ?</a:t>
          </a:r>
          <a:endParaRPr lang="en-US" sz="3700" kern="1200" dirty="0"/>
        </a:p>
      </dsp:txBody>
      <dsp:txXfrm>
        <a:off x="42265" y="261895"/>
        <a:ext cx="6544274" cy="781270"/>
      </dsp:txXfrm>
    </dsp:sp>
    <dsp:sp modelId="{BCAE0300-9A51-4C7A-AEA9-9FE88CF30049}">
      <dsp:nvSpPr>
        <dsp:cNvPr id="0" name=""/>
        <dsp:cNvSpPr/>
      </dsp:nvSpPr>
      <dsp:spPr>
        <a:xfrm>
          <a:off x="0" y="1130640"/>
          <a:ext cx="6628804" cy="865800"/>
        </a:xfrm>
        <a:prstGeom prst="roundRect">
          <a:avLst/>
        </a:prstGeom>
        <a:gradFill rotWithShape="0">
          <a:gsLst>
            <a:gs pos="0">
              <a:schemeClr val="accent2">
                <a:hueOff val="-741071"/>
                <a:satOff val="3550"/>
                <a:lumOff val="3284"/>
                <a:alphaOff val="0"/>
                <a:tint val="96000"/>
                <a:lumMod val="100000"/>
              </a:schemeClr>
            </a:gs>
            <a:gs pos="78000">
              <a:schemeClr val="accent2">
                <a:hueOff val="-741071"/>
                <a:satOff val="3550"/>
                <a:lumOff val="3284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700" kern="1200" dirty="0"/>
            <a:t>JS und Browser</a:t>
          </a:r>
          <a:endParaRPr lang="en-US" sz="3700" kern="1200" dirty="0"/>
        </a:p>
      </dsp:txBody>
      <dsp:txXfrm>
        <a:off x="42265" y="1172905"/>
        <a:ext cx="6544274" cy="781270"/>
      </dsp:txXfrm>
    </dsp:sp>
    <dsp:sp modelId="{D436D81F-BF92-4903-BD07-B8891BAB41A6}">
      <dsp:nvSpPr>
        <dsp:cNvPr id="0" name=""/>
        <dsp:cNvSpPr/>
      </dsp:nvSpPr>
      <dsp:spPr>
        <a:xfrm>
          <a:off x="0" y="2060106"/>
          <a:ext cx="6628804" cy="865800"/>
        </a:xfrm>
        <a:prstGeom prst="roundRect">
          <a:avLst/>
        </a:prstGeom>
        <a:gradFill rotWithShape="0">
          <a:gsLst>
            <a:gs pos="0">
              <a:schemeClr val="accent2">
                <a:hueOff val="-1482143"/>
                <a:satOff val="7100"/>
                <a:lumOff val="6569"/>
                <a:alphaOff val="0"/>
                <a:tint val="96000"/>
                <a:lumMod val="100000"/>
              </a:schemeClr>
            </a:gs>
            <a:gs pos="78000">
              <a:schemeClr val="accent2">
                <a:hueOff val="-1482143"/>
                <a:satOff val="7100"/>
                <a:lumOff val="6569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 err="1"/>
            <a:t>Grundlagen</a:t>
          </a:r>
          <a:endParaRPr lang="en-US" sz="3700" kern="1200" dirty="0"/>
        </a:p>
      </dsp:txBody>
      <dsp:txXfrm>
        <a:off x="42265" y="2102371"/>
        <a:ext cx="6544274" cy="781270"/>
      </dsp:txXfrm>
    </dsp:sp>
    <dsp:sp modelId="{15CEC745-3038-4052-9474-7F8B2FDD1BBB}">
      <dsp:nvSpPr>
        <dsp:cNvPr id="0" name=""/>
        <dsp:cNvSpPr/>
      </dsp:nvSpPr>
      <dsp:spPr>
        <a:xfrm>
          <a:off x="0" y="2962614"/>
          <a:ext cx="6628804" cy="865800"/>
        </a:xfrm>
        <a:prstGeom prst="roundRect">
          <a:avLst/>
        </a:prstGeom>
        <a:gradFill rotWithShape="0">
          <a:gsLst>
            <a:gs pos="0">
              <a:schemeClr val="accent2">
                <a:hueOff val="-2223214"/>
                <a:satOff val="10650"/>
                <a:lumOff val="9853"/>
                <a:alphaOff val="0"/>
                <a:tint val="96000"/>
                <a:lumMod val="100000"/>
              </a:schemeClr>
            </a:gs>
            <a:gs pos="78000">
              <a:schemeClr val="accent2">
                <a:hueOff val="-2223214"/>
                <a:satOff val="10650"/>
                <a:lumOff val="9853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700" kern="1200" dirty="0"/>
            <a:t>Zusammenfassung</a:t>
          </a:r>
          <a:endParaRPr lang="en-US" sz="3700" kern="1200" dirty="0"/>
        </a:p>
      </dsp:txBody>
      <dsp:txXfrm>
        <a:off x="42265" y="3004879"/>
        <a:ext cx="6544274" cy="781270"/>
      </dsp:txXfrm>
    </dsp:sp>
    <dsp:sp modelId="{FC36A366-2244-4CC8-BB9A-8F64177B1F29}">
      <dsp:nvSpPr>
        <dsp:cNvPr id="0" name=""/>
        <dsp:cNvSpPr/>
      </dsp:nvSpPr>
      <dsp:spPr>
        <a:xfrm>
          <a:off x="0" y="3890098"/>
          <a:ext cx="6628804" cy="865800"/>
        </a:xfrm>
        <a:prstGeom prst="roundRect">
          <a:avLst/>
        </a:prstGeom>
        <a:gradFill rotWithShape="0">
          <a:gsLst>
            <a:gs pos="0">
              <a:schemeClr val="accent2">
                <a:hueOff val="-2964286"/>
                <a:satOff val="14200"/>
                <a:lumOff val="13137"/>
                <a:alphaOff val="0"/>
                <a:tint val="96000"/>
                <a:lumMod val="100000"/>
              </a:schemeClr>
            </a:gs>
            <a:gs pos="78000">
              <a:schemeClr val="accent2">
                <a:hueOff val="-2964286"/>
                <a:satOff val="14200"/>
                <a:lumOff val="13137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 err="1"/>
            <a:t>Aufgabenbeispiel</a:t>
          </a:r>
          <a:endParaRPr lang="en-US" sz="3700" kern="1200" dirty="0"/>
        </a:p>
      </dsp:txBody>
      <dsp:txXfrm>
        <a:off x="42265" y="3932363"/>
        <a:ext cx="6544274" cy="7812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2367B-7F5D-4118-B495-6700258B94F2}" type="datetimeFigureOut">
              <a:rPr lang="de-DE" smtClean="0"/>
              <a:t>31.03.2026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0C57B-A7AF-4746-9237-E43FC16ADB6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18142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2367B-7F5D-4118-B495-6700258B94F2}" type="datetimeFigureOut">
              <a:rPr lang="de-DE" smtClean="0"/>
              <a:t>31.03.2026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0C57B-A7AF-4746-9237-E43FC16ADB6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307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2367B-7F5D-4118-B495-6700258B94F2}" type="datetimeFigureOut">
              <a:rPr lang="de-DE" smtClean="0"/>
              <a:t>31.03.2026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0C57B-A7AF-4746-9237-E43FC16ADB6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34565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2367B-7F5D-4118-B495-6700258B94F2}" type="datetimeFigureOut">
              <a:rPr lang="de-DE" smtClean="0"/>
              <a:t>31.03.2026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0C57B-A7AF-4746-9237-E43FC16ADB6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9179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2367B-7F5D-4118-B495-6700258B94F2}" type="datetimeFigureOut">
              <a:rPr lang="de-DE" smtClean="0"/>
              <a:t>31.03.2026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0C57B-A7AF-4746-9237-E43FC16ADB6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05411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2367B-7F5D-4118-B495-6700258B94F2}" type="datetimeFigureOut">
              <a:rPr lang="de-DE" smtClean="0"/>
              <a:t>31.03.2026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0C57B-A7AF-4746-9237-E43FC16ADB6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63602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2367B-7F5D-4118-B495-6700258B94F2}" type="datetimeFigureOut">
              <a:rPr lang="de-DE" smtClean="0"/>
              <a:t>31.03.2026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0C57B-A7AF-4746-9237-E43FC16ADB6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50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2367B-7F5D-4118-B495-6700258B94F2}" type="datetimeFigureOut">
              <a:rPr lang="de-DE" smtClean="0"/>
              <a:t>31.03.2026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0C57B-A7AF-4746-9237-E43FC16ADB6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169797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2367B-7F5D-4118-B495-6700258B94F2}" type="datetimeFigureOut">
              <a:rPr lang="de-DE" smtClean="0"/>
              <a:t>31.03.2026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0C57B-A7AF-4746-9237-E43FC16ADB6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45500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2367B-7F5D-4118-B495-6700258B94F2}" type="datetimeFigureOut">
              <a:rPr lang="de-DE" smtClean="0"/>
              <a:t>31.03.2026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0C57B-A7AF-4746-9237-E43FC16ADB6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9105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2367B-7F5D-4118-B495-6700258B94F2}" type="datetimeFigureOut">
              <a:rPr lang="de-DE" smtClean="0"/>
              <a:t>31.03.2026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0C57B-A7AF-4746-9237-E43FC16ADB6A}" type="slidenum">
              <a:rPr lang="de-DE" smtClean="0"/>
              <a:t>‹Nr.›</a:t>
            </a:fld>
            <a:endParaRPr lang="de-DE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012740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2367B-7F5D-4118-B495-6700258B94F2}" type="datetimeFigureOut">
              <a:rPr lang="de-DE" smtClean="0"/>
              <a:t>31.03.2026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0C57B-A7AF-4746-9237-E43FC16ADB6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75827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 für 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2367B-7F5D-4118-B495-6700258B94F2}" type="datetimeFigureOut">
              <a:rPr lang="de-DE" smtClean="0"/>
              <a:t>31.03.2026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0C57B-A7AF-4746-9237-E43FC16ADB6A}" type="slidenum">
              <a:rPr lang="de-DE" smtClean="0"/>
              <a:t>‹Nr.›</a:t>
            </a:fld>
            <a:endParaRPr lang="de-DE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076394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hr oder Fals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2367B-7F5D-4118-B495-6700258B94F2}" type="datetimeFigureOut">
              <a:rPr lang="de-DE" smtClean="0"/>
              <a:t>31.03.2026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0C57B-A7AF-4746-9237-E43FC16ADB6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696843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2367B-7F5D-4118-B495-6700258B94F2}" type="datetimeFigureOut">
              <a:rPr lang="de-DE" smtClean="0"/>
              <a:t>31.03.2026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0C57B-A7AF-4746-9237-E43FC16ADB6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962132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2367B-7F5D-4118-B495-6700258B94F2}" type="datetimeFigureOut">
              <a:rPr lang="de-DE" smtClean="0"/>
              <a:t>31.03.2026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0C57B-A7AF-4746-9237-E43FC16ADB6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88110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02367B-7F5D-4118-B495-6700258B94F2}" type="datetimeFigureOut">
              <a:rPr lang="de-DE" smtClean="0"/>
              <a:t>31.03.2026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8470C57B-A7AF-4746-9237-E43FC16ADB6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65913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" Type="http://schemas.openxmlformats.org/officeDocument/2006/relationships/image" Target="../media/image5.png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19" Type="http://schemas.openxmlformats.org/officeDocument/2006/relationships/image" Target="../media/image22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00E636-4D4B-A93C-F951-022CB24B3D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19136" y="1020871"/>
            <a:ext cx="6960759" cy="2849671"/>
          </a:xfrm>
        </p:spPr>
        <p:txBody>
          <a:bodyPr>
            <a:normAutofit/>
          </a:bodyPr>
          <a:lstStyle/>
          <a:p>
            <a:pPr algn="l"/>
            <a:r>
              <a:rPr lang="de-DE" sz="6000" dirty="0">
                <a:solidFill>
                  <a:schemeClr val="tx1"/>
                </a:solidFill>
              </a:rPr>
              <a:t>JavaScript</a:t>
            </a:r>
          </a:p>
        </p:txBody>
      </p:sp>
    </p:spTree>
    <p:extLst>
      <p:ext uri="{BB962C8B-B14F-4D97-AF65-F5344CB8AC3E}">
        <p14:creationId xmlns:p14="http://schemas.microsoft.com/office/powerpoint/2010/main" val="16845764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543B5D-22B6-D8EE-5BF0-ADCC02327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481" y="1382486"/>
            <a:ext cx="3547581" cy="4093028"/>
          </a:xfrm>
        </p:spPr>
        <p:txBody>
          <a:bodyPr anchor="ctr">
            <a:normAutofit/>
          </a:bodyPr>
          <a:lstStyle/>
          <a:p>
            <a:r>
              <a:rPr lang="de-DE" sz="4400" dirty="0">
                <a:solidFill>
                  <a:schemeClr val="tx1"/>
                </a:solidFill>
              </a:rPr>
              <a:t>Gliederung</a:t>
            </a:r>
          </a:p>
        </p:txBody>
      </p:sp>
      <p:graphicFrame>
        <p:nvGraphicFramePr>
          <p:cNvPr id="33" name="Inhaltsplatzhalter 2">
            <a:extLst>
              <a:ext uri="{FF2B5EF4-FFF2-40B4-BE49-F238E27FC236}">
                <a16:creationId xmlns:a16="http://schemas.microsoft.com/office/drawing/2014/main" id="{DE8D27DF-67EB-A173-1DDC-C80B2E8B46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20939814"/>
              </p:ext>
            </p:extLst>
          </p:nvPr>
        </p:nvGraphicFramePr>
        <p:xfrm>
          <a:off x="4916553" y="1051560"/>
          <a:ext cx="6628804" cy="48725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244145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Weiße Buchstaben des Alphabets, flachgelegt und gestapelt">
            <a:extLst>
              <a:ext uri="{FF2B5EF4-FFF2-40B4-BE49-F238E27FC236}">
                <a16:creationId xmlns:a16="http://schemas.microsoft.com/office/drawing/2014/main" id="{0AA1FA6D-E371-30AD-5A06-4C6090D8DA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300" r="39189" b="-2"/>
          <a:stretch>
            <a:fillRect/>
          </a:stretch>
        </p:blipFill>
        <p:spPr>
          <a:xfrm>
            <a:off x="20" y="-1"/>
            <a:ext cx="539494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03061D8B-9768-3B95-8227-3EBF84DF3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0563" y="1678665"/>
            <a:ext cx="3887839" cy="237216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5400"/>
              <a:t>Was ist JavaScript</a:t>
            </a:r>
          </a:p>
        </p:txBody>
      </p:sp>
    </p:spTree>
    <p:extLst>
      <p:ext uri="{BB962C8B-B14F-4D97-AF65-F5344CB8AC3E}">
        <p14:creationId xmlns:p14="http://schemas.microsoft.com/office/powerpoint/2010/main" val="20239791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7B9C3C9-8D3A-270B-EA05-32607142D0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1995 von Brendan Eich entwickelt.</a:t>
            </a:r>
          </a:p>
          <a:p>
            <a:endParaRPr lang="de-DE" dirty="0"/>
          </a:p>
          <a:p>
            <a:r>
              <a:rPr lang="de-DE" dirty="0"/>
              <a:t>Programmiersprache für Websites</a:t>
            </a:r>
          </a:p>
          <a:p>
            <a:endParaRPr lang="de-DE" dirty="0"/>
          </a:p>
          <a:p>
            <a:r>
              <a:rPr lang="de-DE" dirty="0"/>
              <a:t>Ändert Inhalte und reagiert auf Aktionen </a:t>
            </a:r>
          </a:p>
          <a:p>
            <a:endParaRPr lang="de-DE" dirty="0"/>
          </a:p>
          <a:p>
            <a:r>
              <a:rPr lang="de-DE" dirty="0"/>
              <a:t>Für Interaktive/dynamische Websites</a:t>
            </a:r>
          </a:p>
        </p:txBody>
      </p:sp>
    </p:spTree>
    <p:extLst>
      <p:ext uri="{BB962C8B-B14F-4D97-AF65-F5344CB8AC3E}">
        <p14:creationId xmlns:p14="http://schemas.microsoft.com/office/powerpoint/2010/main" val="38038506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88C9B83F-64CD-41C1-925F-A08801FFD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1655065-0BD7-4422-BEC0-4401E9980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DDD90AC-ABEC-4A76-9C9C-AD0A5F8FC7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23">
              <a:extLst>
                <a:ext uri="{FF2B5EF4-FFF2-40B4-BE49-F238E27FC236}">
                  <a16:creationId xmlns:a16="http://schemas.microsoft.com/office/drawing/2014/main" id="{21A8AFEF-EC50-4C0B-9C64-814B76C82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3" name="Rectangle 25">
              <a:extLst>
                <a:ext uri="{FF2B5EF4-FFF2-40B4-BE49-F238E27FC236}">
                  <a16:creationId xmlns:a16="http://schemas.microsoft.com/office/drawing/2014/main" id="{CAFAA800-E117-4357-84E4-56B63EA03E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8DDFC9F4-3B45-402D-8AD7-60B3F08ED7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5" name="Rectangle 27">
              <a:extLst>
                <a:ext uri="{FF2B5EF4-FFF2-40B4-BE49-F238E27FC236}">
                  <a16:creationId xmlns:a16="http://schemas.microsoft.com/office/drawing/2014/main" id="{F26A0854-FBE4-4587-B349-06BE192BD7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6" name="Rectangle 28">
              <a:extLst>
                <a:ext uri="{FF2B5EF4-FFF2-40B4-BE49-F238E27FC236}">
                  <a16:creationId xmlns:a16="http://schemas.microsoft.com/office/drawing/2014/main" id="{54A9C4C6-FF7D-470E-BFCA-CE4F60A1F0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7" name="Rectangle 29">
              <a:extLst>
                <a:ext uri="{FF2B5EF4-FFF2-40B4-BE49-F238E27FC236}">
                  <a16:creationId xmlns:a16="http://schemas.microsoft.com/office/drawing/2014/main" id="{B1721EA8-4871-45D4-B78F-AE805A3004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E5763971-E3A3-45C6-9BA8-2E032C7A55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32752E94-0E01-4AF5-A43A-F2FAD8737C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</p:grpSp>
      <p:pic>
        <p:nvPicPr>
          <p:cNvPr id="5" name="Picture 4" descr="Computerskript auf einem Bildschirm">
            <a:extLst>
              <a:ext uri="{FF2B5EF4-FFF2-40B4-BE49-F238E27FC236}">
                <a16:creationId xmlns:a16="http://schemas.microsoft.com/office/drawing/2014/main" id="{5622D637-48E1-99D4-62CF-BCAD8443B5E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prstClr val="white"/>
            </a:duotone>
          </a:blip>
          <a:srcRect r="31231" b="-2"/>
          <a:stretch>
            <a:fillRect/>
          </a:stretch>
        </p:blipFill>
        <p:spPr>
          <a:xfrm>
            <a:off x="5123543" y="-1"/>
            <a:ext cx="7065281" cy="6858001"/>
          </a:xfrm>
          <a:custGeom>
            <a:avLst/>
            <a:gdLst/>
            <a:ahLst/>
            <a:cxnLst/>
            <a:rect l="l" t="t" r="r" b="b"/>
            <a:pathLst>
              <a:path w="7065281" h="6858001">
                <a:moveTo>
                  <a:pt x="379987" y="0"/>
                </a:moveTo>
                <a:lnTo>
                  <a:pt x="7065281" y="0"/>
                </a:lnTo>
                <a:lnTo>
                  <a:pt x="7065281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ED8B01D7-EDC7-C617-962D-52F25A77E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866" y="1678666"/>
            <a:ext cx="5123515" cy="236909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800"/>
              <a:t>JavaScript und Browser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57C1A16-B8AB-4D99-A195-A38F556A6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8A9B20B-D1DD-4573-B5EC-558029519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3">
            <a:extLst>
              <a:ext uri="{FF2B5EF4-FFF2-40B4-BE49-F238E27FC236}">
                <a16:creationId xmlns:a16="http://schemas.microsoft.com/office/drawing/2014/main" id="{66D61E08-70C3-48D8-BEA0-787111DC3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7" name="Rectangle 25">
            <a:extLst>
              <a:ext uri="{FF2B5EF4-FFF2-40B4-BE49-F238E27FC236}">
                <a16:creationId xmlns:a16="http://schemas.microsoft.com/office/drawing/2014/main" id="{FC55298F-0AE5-478E-AD2B-03C2614C58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9" name="Isosceles Triangle 24">
            <a:extLst>
              <a:ext uri="{FF2B5EF4-FFF2-40B4-BE49-F238E27FC236}">
                <a16:creationId xmlns:a16="http://schemas.microsoft.com/office/drawing/2014/main" id="{C180E4EA-0B63-4779-A895-7E90E71088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31" name="Rectangle 27">
            <a:extLst>
              <a:ext uri="{FF2B5EF4-FFF2-40B4-BE49-F238E27FC236}">
                <a16:creationId xmlns:a16="http://schemas.microsoft.com/office/drawing/2014/main" id="{CEE01D9D-3DE8-4EED-B0D3-8F3C79CC7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33" name="Rectangle 28">
            <a:extLst>
              <a:ext uri="{FF2B5EF4-FFF2-40B4-BE49-F238E27FC236}">
                <a16:creationId xmlns:a16="http://schemas.microsoft.com/office/drawing/2014/main" id="{89AF5CE9-607F-43F4-8983-DCD6DA4051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35" name="Rectangle 29">
            <a:extLst>
              <a:ext uri="{FF2B5EF4-FFF2-40B4-BE49-F238E27FC236}">
                <a16:creationId xmlns:a16="http://schemas.microsoft.com/office/drawing/2014/main" id="{6EEA2DBD-9E1E-4521-8C01-F32AD18A89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37" name="Isosceles Triangle 29">
            <a:extLst>
              <a:ext uri="{FF2B5EF4-FFF2-40B4-BE49-F238E27FC236}">
                <a16:creationId xmlns:a16="http://schemas.microsoft.com/office/drawing/2014/main" id="{15BBD2C1-BA9B-46A9-A27A-33498B169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15090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6B6BD1B-2A22-9D8B-EC64-BF77E23C8E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Läuft im Browser  </a:t>
            </a:r>
          </a:p>
          <a:p>
            <a:endParaRPr lang="de-DE" dirty="0"/>
          </a:p>
          <a:p>
            <a:r>
              <a:rPr lang="de-DE" dirty="0"/>
              <a:t>Über &lt;</a:t>
            </a:r>
            <a:r>
              <a:rPr lang="de-DE" dirty="0" err="1"/>
              <a:t>script</a:t>
            </a:r>
            <a:r>
              <a:rPr lang="de-DE" dirty="0"/>
              <a:t>&gt; in HTML einbinden</a:t>
            </a:r>
          </a:p>
          <a:p>
            <a:endParaRPr lang="de-DE" dirty="0"/>
          </a:p>
          <a:p>
            <a:r>
              <a:rPr lang="de-DE" dirty="0"/>
              <a:t>HTML = Struktur , CSS = Design/style , JavaScript = Verhalten/Interaktivität</a:t>
            </a:r>
          </a:p>
          <a:p>
            <a:endParaRPr lang="de-DE" dirty="0"/>
          </a:p>
          <a:p>
            <a:r>
              <a:rPr lang="de-DE" dirty="0" err="1"/>
              <a:t>Document</a:t>
            </a:r>
            <a:r>
              <a:rPr lang="de-DE" dirty="0"/>
              <a:t> </a:t>
            </a:r>
            <a:r>
              <a:rPr lang="de-DE" dirty="0" err="1"/>
              <a:t>Object</a:t>
            </a:r>
            <a:r>
              <a:rPr lang="de-DE" dirty="0"/>
              <a:t> Model / Schnittstelle zwischen JS und HTML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2A1489C8-329B-3DD4-0D70-DBA832EDCF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5668" y="2929874"/>
            <a:ext cx="3215919" cy="358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9141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28460BD8-AE3F-4AC9-9D0B-717052AA5D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4420CFE-F482-466E-9E1E-C78513C0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331032B-BD21-4BDA-920C-12E3580525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23">
              <a:extLst>
                <a:ext uri="{FF2B5EF4-FFF2-40B4-BE49-F238E27FC236}">
                  <a16:creationId xmlns:a16="http://schemas.microsoft.com/office/drawing/2014/main" id="{E7514DA3-59E7-409E-8A3B-AD097F6E56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2" name="Rectangle 25">
              <a:extLst>
                <a:ext uri="{FF2B5EF4-FFF2-40B4-BE49-F238E27FC236}">
                  <a16:creationId xmlns:a16="http://schemas.microsoft.com/office/drawing/2014/main" id="{57B9A2A6-3BE4-4599-9364-F71C5BFD61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4FD744C6-4ED8-4BC9-BF68-6BDF701C5D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4" name="Rectangle 27">
              <a:extLst>
                <a:ext uri="{FF2B5EF4-FFF2-40B4-BE49-F238E27FC236}">
                  <a16:creationId xmlns:a16="http://schemas.microsoft.com/office/drawing/2014/main" id="{092C5BAD-C911-4F8F-A1C5-470268BE6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5" name="Rectangle 28">
              <a:extLst>
                <a:ext uri="{FF2B5EF4-FFF2-40B4-BE49-F238E27FC236}">
                  <a16:creationId xmlns:a16="http://schemas.microsoft.com/office/drawing/2014/main" id="{B133D0C8-4EC4-424F-8E70-0482D5B1B6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6" name="Rectangle 29">
              <a:extLst>
                <a:ext uri="{FF2B5EF4-FFF2-40B4-BE49-F238E27FC236}">
                  <a16:creationId xmlns:a16="http://schemas.microsoft.com/office/drawing/2014/main" id="{7B1532A0-F4B3-4DE8-B18F-740CAAD25A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8EFDD162-BBBA-4062-8BBF-53DBA10913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DCFC9E65-3E19-4483-B952-25D29683CA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</p:grp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9179DE42-5613-4B35-A1E6-6CCBAA13C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B898B32-3891-4C3A-8F58-C5969D2E90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48300" y="0"/>
            <a:ext cx="12192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AE4806D-B8F9-4679-A68A-9BD21C01A3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7175" y="3681413"/>
            <a:ext cx="476355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3">
            <a:extLst>
              <a:ext uri="{FF2B5EF4-FFF2-40B4-BE49-F238E27FC236}">
                <a16:creationId xmlns:a16="http://schemas.microsoft.com/office/drawing/2014/main" id="{52FB45E9-914E-4471-AC87-E475CD5176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58764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8" name="Rectangle 25">
            <a:extLst>
              <a:ext uri="{FF2B5EF4-FFF2-40B4-BE49-F238E27FC236}">
                <a16:creationId xmlns:a16="http://schemas.microsoft.com/office/drawing/2014/main" id="{C310626D-5743-49D4-8F7D-88C4F8F05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80730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3C195FC1-B568-4C72-9902-34CB35DDD7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9621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32" name="Rectangle 27">
            <a:extLst>
              <a:ext uri="{FF2B5EF4-FFF2-40B4-BE49-F238E27FC236}">
                <a16:creationId xmlns:a16="http://schemas.microsoft.com/office/drawing/2014/main" id="{EF2BDF77-362C-43F0-8CBB-A969EC2AE0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11788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4BE96B01-3929-432D-B8C2-ADBCB74C2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48954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2A6FCDE6-CDE2-4C51-B18E-A95CFB6797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16287" y="-8467"/>
            <a:ext cx="9175713" cy="6866467"/>
          </a:xfrm>
          <a:custGeom>
            <a:avLst/>
            <a:gdLst>
              <a:gd name="connsiteX0" fmla="*/ 0 w 9175713"/>
              <a:gd name="connsiteY0" fmla="*/ 0 h 6866467"/>
              <a:gd name="connsiteX1" fmla="*/ 1249825 w 9175713"/>
              <a:gd name="connsiteY1" fmla="*/ 0 h 6866467"/>
              <a:gd name="connsiteX2" fmla="*/ 1249825 w 9175713"/>
              <a:gd name="connsiteY2" fmla="*/ 8467 h 6866467"/>
              <a:gd name="connsiteX3" fmla="*/ 9175713 w 9175713"/>
              <a:gd name="connsiteY3" fmla="*/ 8467 h 6866467"/>
              <a:gd name="connsiteX4" fmla="*/ 9175713 w 9175713"/>
              <a:gd name="connsiteY4" fmla="*/ 6866467 h 6866467"/>
              <a:gd name="connsiteX5" fmla="*/ 1249825 w 9175713"/>
              <a:gd name="connsiteY5" fmla="*/ 6866467 h 6866467"/>
              <a:gd name="connsiteX6" fmla="*/ 1109382 w 9175713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75713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9175713" y="8467"/>
                </a:lnTo>
                <a:lnTo>
                  <a:pt x="9175713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C1B05B2-AA31-735D-83EB-ADE736158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9136" y="1020871"/>
            <a:ext cx="6960759" cy="284967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dirty="0" err="1">
                <a:solidFill>
                  <a:srgbClr val="FFFFFF"/>
                </a:solidFill>
              </a:rPr>
              <a:t>Grundlagen</a:t>
            </a:r>
            <a:endParaRPr lang="en-US" sz="6000" dirty="0">
              <a:solidFill>
                <a:srgbClr val="FFFFFF"/>
              </a:solidFill>
            </a:endParaRPr>
          </a:p>
        </p:txBody>
      </p:sp>
      <p:sp>
        <p:nvSpPr>
          <p:cNvPr id="38" name="Isosceles Triangle 37">
            <a:extLst>
              <a:ext uri="{FF2B5EF4-FFF2-40B4-BE49-F238E27FC236}">
                <a16:creationId xmlns:a16="http://schemas.microsoft.com/office/drawing/2014/main" id="{9D2E8756-2465-473A-BA2A-2DB1D6224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062562" y="3271487"/>
            <a:ext cx="220660" cy="186439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5049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C70DE4A-99B2-1917-0584-72E1DF179C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Variablen</a:t>
            </a:r>
          </a:p>
          <a:p>
            <a:pPr lvl="1"/>
            <a:r>
              <a:rPr lang="de-DE" dirty="0"/>
              <a:t>Speichern Daten </a:t>
            </a:r>
          </a:p>
          <a:p>
            <a:pPr lvl="1"/>
            <a:r>
              <a:rPr lang="de-DE" dirty="0"/>
              <a:t>Erstellen mit </a:t>
            </a:r>
            <a:r>
              <a:rPr lang="de-DE" dirty="0" err="1"/>
              <a:t>let</a:t>
            </a:r>
            <a:r>
              <a:rPr lang="de-DE" dirty="0"/>
              <a:t>, </a:t>
            </a:r>
            <a:r>
              <a:rPr lang="de-DE" dirty="0" err="1"/>
              <a:t>const</a:t>
            </a:r>
            <a:r>
              <a:rPr lang="de-DE" dirty="0"/>
              <a:t> </a:t>
            </a:r>
          </a:p>
          <a:p>
            <a:endParaRPr lang="de-DE" dirty="0"/>
          </a:p>
          <a:p>
            <a:r>
              <a:rPr lang="de-DE" dirty="0" err="1"/>
              <a:t>Datenypen</a:t>
            </a:r>
            <a:endParaRPr lang="de-DE" dirty="0"/>
          </a:p>
          <a:p>
            <a:pPr lvl="1"/>
            <a:r>
              <a:rPr lang="de-DE" dirty="0"/>
              <a:t>Primitive Data </a:t>
            </a:r>
            <a:r>
              <a:rPr lang="de-DE" dirty="0" err="1"/>
              <a:t>Types</a:t>
            </a:r>
            <a:r>
              <a:rPr lang="de-DE" dirty="0"/>
              <a:t> 	 </a:t>
            </a:r>
          </a:p>
          <a:p>
            <a:pPr lvl="2"/>
            <a:r>
              <a:rPr lang="de-DE" dirty="0" err="1"/>
              <a:t>Numeric</a:t>
            </a:r>
            <a:endParaRPr lang="de-DE" dirty="0"/>
          </a:p>
          <a:p>
            <a:pPr lvl="2"/>
            <a:r>
              <a:rPr lang="de-DE" dirty="0"/>
              <a:t>Non-</a:t>
            </a:r>
            <a:r>
              <a:rPr lang="de-DE" dirty="0" err="1"/>
              <a:t>Numeric</a:t>
            </a:r>
            <a:endParaRPr lang="de-DE" dirty="0"/>
          </a:p>
          <a:p>
            <a:pPr lvl="1"/>
            <a:r>
              <a:rPr lang="de-DE" dirty="0"/>
              <a:t>Objects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37317CF6-DE8C-FC74-F53B-742C8B7DAC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5061" y="3070854"/>
            <a:ext cx="4587638" cy="137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1400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F30E5B7-FB35-975F-6D61-F3BCE2542B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3386771"/>
          </a:xfrm>
        </p:spPr>
        <p:txBody>
          <a:bodyPr/>
          <a:lstStyle/>
          <a:p>
            <a:r>
              <a:rPr lang="de-DE" dirty="0"/>
              <a:t>Operatoren &gt; Zeichen oder Zeichenketten, die Werte verarbeiten, verknüpfen oder vergleichen (z. B. mathematisch oder logisch)</a:t>
            </a:r>
          </a:p>
          <a:p>
            <a:pPr lvl="1"/>
            <a:endParaRPr lang="de-DE" dirty="0"/>
          </a:p>
          <a:p>
            <a:pPr lvl="1"/>
            <a:r>
              <a:rPr lang="de-DE" dirty="0"/>
              <a:t>Es gibt mehrere Gruppen</a:t>
            </a:r>
          </a:p>
          <a:p>
            <a:pPr lvl="2"/>
            <a:endParaRPr lang="de-DE" dirty="0"/>
          </a:p>
          <a:p>
            <a:pPr lvl="2"/>
            <a:r>
              <a:rPr lang="de-DE" dirty="0"/>
              <a:t>Arithmetische Operatoren ( 	+	-	*	/	%	**	)</a:t>
            </a:r>
          </a:p>
          <a:p>
            <a:pPr lvl="2"/>
            <a:endParaRPr lang="de-DE" dirty="0"/>
          </a:p>
          <a:p>
            <a:pPr lvl="2"/>
            <a:r>
              <a:rPr lang="de-DE" dirty="0"/>
              <a:t>Vergleichsoperatoren (	==	!=	&gt;	&lt;	&lt;=	)</a:t>
            </a:r>
          </a:p>
          <a:p>
            <a:pPr lvl="2"/>
            <a:endParaRPr lang="de-DE" dirty="0"/>
          </a:p>
          <a:p>
            <a:pPr lvl="2"/>
            <a:endParaRPr lang="de-DE" dirty="0"/>
          </a:p>
          <a:p>
            <a:pPr marL="914400" lvl="2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166677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F38E97B-DC5D-4C54-FF81-08DE4F62E4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Bedingungen &gt; Entscheidungen treffen ( </a:t>
            </a:r>
            <a:r>
              <a:rPr lang="de-DE" dirty="0" err="1"/>
              <a:t>if</a:t>
            </a:r>
            <a:r>
              <a:rPr lang="de-DE" dirty="0"/>
              <a:t> / </a:t>
            </a:r>
            <a:r>
              <a:rPr lang="de-DE" dirty="0" err="1"/>
              <a:t>else</a:t>
            </a:r>
            <a:r>
              <a:rPr lang="de-DE" dirty="0"/>
              <a:t> ) 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Schleifen &gt; Etwas wiederholen  ( </a:t>
            </a:r>
            <a:r>
              <a:rPr lang="de-DE" dirty="0" err="1"/>
              <a:t>for</a:t>
            </a:r>
            <a:r>
              <a:rPr lang="de-DE" dirty="0"/>
              <a:t> / </a:t>
            </a:r>
            <a:r>
              <a:rPr lang="de-DE" dirty="0" err="1"/>
              <a:t>while</a:t>
            </a:r>
            <a:r>
              <a:rPr lang="de-DE" dirty="0"/>
              <a:t> )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Funktionen &gt; Fertig geschriebener Code ( </a:t>
            </a:r>
            <a:r>
              <a:rPr lang="de-DE" dirty="0" err="1"/>
              <a:t>zb</a:t>
            </a:r>
            <a:r>
              <a:rPr lang="de-DE" dirty="0"/>
              <a:t>. Durchschnitt berechnen)</a:t>
            </a:r>
          </a:p>
        </p:txBody>
      </p:sp>
    </p:spTree>
    <p:extLst>
      <p:ext uri="{BB962C8B-B14F-4D97-AF65-F5344CB8AC3E}">
        <p14:creationId xmlns:p14="http://schemas.microsoft.com/office/powerpoint/2010/main" val="15542412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28460BD8-AE3F-4AC9-9D0B-717052AA5D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4420CFE-F482-466E-9E1E-C78513C0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331032B-BD21-4BDA-920C-12E3580525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23">
              <a:extLst>
                <a:ext uri="{FF2B5EF4-FFF2-40B4-BE49-F238E27FC236}">
                  <a16:creationId xmlns:a16="http://schemas.microsoft.com/office/drawing/2014/main" id="{E7514DA3-59E7-409E-8A3B-AD097F6E56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2" name="Rectangle 25">
              <a:extLst>
                <a:ext uri="{FF2B5EF4-FFF2-40B4-BE49-F238E27FC236}">
                  <a16:creationId xmlns:a16="http://schemas.microsoft.com/office/drawing/2014/main" id="{57B9A2A6-3BE4-4599-9364-F71C5BFD61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4FD744C6-4ED8-4BC9-BF68-6BDF701C5D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4" name="Rectangle 27">
              <a:extLst>
                <a:ext uri="{FF2B5EF4-FFF2-40B4-BE49-F238E27FC236}">
                  <a16:creationId xmlns:a16="http://schemas.microsoft.com/office/drawing/2014/main" id="{092C5BAD-C911-4F8F-A1C5-470268BE6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5" name="Rectangle 28">
              <a:extLst>
                <a:ext uri="{FF2B5EF4-FFF2-40B4-BE49-F238E27FC236}">
                  <a16:creationId xmlns:a16="http://schemas.microsoft.com/office/drawing/2014/main" id="{B133D0C8-4EC4-424F-8E70-0482D5B1B6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6" name="Rectangle 29">
              <a:extLst>
                <a:ext uri="{FF2B5EF4-FFF2-40B4-BE49-F238E27FC236}">
                  <a16:creationId xmlns:a16="http://schemas.microsoft.com/office/drawing/2014/main" id="{7B1532A0-F4B3-4DE8-B18F-740CAAD25A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8EFDD162-BBBA-4062-8BBF-53DBA10913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DCFC9E65-3E19-4483-B952-25D29683CA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9B8A5A16-7BE9-4AA1-9B5E-00FAFA5C86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55D27F9-7623-4A6E-89FF-87E6C4E0D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67B7CFC0-1E17-41C5-BF93-16E99B1F89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FFFFF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640594F-E37B-4D91-8E95-9DA62A9B9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25" name="Rectangle 25">
              <a:extLst>
                <a:ext uri="{FF2B5EF4-FFF2-40B4-BE49-F238E27FC236}">
                  <a16:creationId xmlns:a16="http://schemas.microsoft.com/office/drawing/2014/main" id="{93C9D004-5359-4937-9D4B-EC89888063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26" name="Isosceles Triangle 25">
              <a:extLst>
                <a:ext uri="{FF2B5EF4-FFF2-40B4-BE49-F238E27FC236}">
                  <a16:creationId xmlns:a16="http://schemas.microsoft.com/office/drawing/2014/main" id="{0DE8B4BF-A71A-4324-A033-7886CF70A0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27" name="Rectangle 27">
              <a:extLst>
                <a:ext uri="{FF2B5EF4-FFF2-40B4-BE49-F238E27FC236}">
                  <a16:creationId xmlns:a16="http://schemas.microsoft.com/office/drawing/2014/main" id="{5697F627-1058-435C-96D4-98AB552C6A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92EF457-D744-4C61-8670-518EC1D2D5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645924" y="0"/>
              <a:ext cx="1219200" cy="6858000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Rectangle 29">
              <a:extLst>
                <a:ext uri="{FF2B5EF4-FFF2-40B4-BE49-F238E27FC236}">
                  <a16:creationId xmlns:a16="http://schemas.microsoft.com/office/drawing/2014/main" id="{49E61018-BC96-47DC-B47F-FFBA96BAD8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30" name="Isosceles Triangle 29">
              <a:extLst>
                <a:ext uri="{FF2B5EF4-FFF2-40B4-BE49-F238E27FC236}">
                  <a16:creationId xmlns:a16="http://schemas.microsoft.com/office/drawing/2014/main" id="{3CA434EC-618C-4787-86BA-1BF47478EE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31" name="Isosceles Triangle 30">
              <a:extLst>
                <a:ext uri="{FF2B5EF4-FFF2-40B4-BE49-F238E27FC236}">
                  <a16:creationId xmlns:a16="http://schemas.microsoft.com/office/drawing/2014/main" id="{97378863-CDB3-4B0F-A65C-98A1252DD0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CAD4FF92-DA73-E2DC-3C6E-4B147C379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7067" y="1267012"/>
            <a:ext cx="7766936" cy="278382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5400" dirty="0">
                <a:solidFill>
                  <a:srgbClr val="FFFFFF"/>
                </a:solidFill>
              </a:rPr>
              <a:t>Kleine </a:t>
            </a:r>
            <a:r>
              <a:rPr lang="en-US" sz="5400" dirty="0" err="1">
                <a:solidFill>
                  <a:srgbClr val="FFFFFF"/>
                </a:solidFill>
              </a:rPr>
              <a:t>Zusammenfassung</a:t>
            </a:r>
            <a:r>
              <a:rPr lang="en-US" sz="5400" dirty="0">
                <a:solidFill>
                  <a:srgbClr val="FFFFFF"/>
                </a:solidFill>
              </a:rPr>
              <a:t> + </a:t>
            </a:r>
            <a:r>
              <a:rPr lang="en-US" sz="5400" dirty="0" err="1">
                <a:solidFill>
                  <a:srgbClr val="FFFFFF"/>
                </a:solidFill>
              </a:rPr>
              <a:t>Fazit</a:t>
            </a:r>
            <a:endParaRPr lang="en-US" sz="54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26871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6C16C40-7C29-4ACC-B851-7E08E459B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DD733AE-DD5E-4C77-8BCD-72BF12A06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51DE90A4-932E-4370-BA07-30F43254C0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A19CA4A-B208-452A-8BE4-BC6940D33D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B74F8D3E-E618-4DE3-A0CC-B4904BB5D5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299DA406-C54B-4E31-867D-FAF8DCE704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A1E16883-5140-47C4-A9AD-AD6598AC3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6" name="Rectangle 27">
              <a:extLst>
                <a:ext uri="{FF2B5EF4-FFF2-40B4-BE49-F238E27FC236}">
                  <a16:creationId xmlns:a16="http://schemas.microsoft.com/office/drawing/2014/main" id="{4CD848DC-8A2A-4093-9BDD-7AF4B6A278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7" name="Rectangle 28">
              <a:extLst>
                <a:ext uri="{FF2B5EF4-FFF2-40B4-BE49-F238E27FC236}">
                  <a16:creationId xmlns:a16="http://schemas.microsoft.com/office/drawing/2014/main" id="{34635A4D-E9CE-4B78-912A-479EA4512B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8" name="Rectangle 29">
              <a:extLst>
                <a:ext uri="{FF2B5EF4-FFF2-40B4-BE49-F238E27FC236}">
                  <a16:creationId xmlns:a16="http://schemas.microsoft.com/office/drawing/2014/main" id="{D663A5EE-5581-44F3-8F98-688755F63E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B1E84E6A-F5AE-4F4D-98F2-82FE4FCC26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DDE7DDC9-17D4-4686-833D-48F8733B49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5220DC4F-AE3C-B185-2640-F0EFA1DAD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>
            <a:normAutofit fontScale="90000"/>
          </a:bodyPr>
          <a:lstStyle/>
          <a:p>
            <a:br>
              <a:rPr lang="de-DE" dirty="0"/>
            </a:b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						Beispielaufgabe</a:t>
            </a:r>
            <a:br>
              <a:rPr lang="de-DE" dirty="0"/>
            </a:br>
            <a:br>
              <a:rPr lang="de-DE" dirty="0"/>
            </a:br>
            <a:r>
              <a:rPr lang="de-DE" dirty="0"/>
              <a:t>Stelle die Website mit den vorhandenen Bausteinen Zusammen</a:t>
            </a:r>
          </a:p>
        </p:txBody>
      </p:sp>
    </p:spTree>
    <p:extLst>
      <p:ext uri="{BB962C8B-B14F-4D97-AF65-F5344CB8AC3E}">
        <p14:creationId xmlns:p14="http://schemas.microsoft.com/office/powerpoint/2010/main" val="19857523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fik 10">
            <a:extLst>
              <a:ext uri="{FF2B5EF4-FFF2-40B4-BE49-F238E27FC236}">
                <a16:creationId xmlns:a16="http://schemas.microsoft.com/office/drawing/2014/main" id="{42AA913F-AB9C-ED4E-26D7-4076DE53CE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4637" y="916691"/>
            <a:ext cx="1924319" cy="190527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13A1B1FF-053C-09F1-82AC-4753E7CE43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5762" y="2250954"/>
            <a:ext cx="1438476" cy="209579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5C86D7FC-84A4-C19E-517D-D081A51AB6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7828" y="1635875"/>
            <a:ext cx="609685" cy="152421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CF682499-27DC-92B7-3E9A-48C2303492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4317" y="1564287"/>
            <a:ext cx="2124371" cy="171474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7CF44D49-ED08-7C07-BC67-F308421672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15832" y="2139503"/>
            <a:ext cx="2715004" cy="171474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97435085-28A9-2A39-5DFE-FCB88B43BB5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71716" y="2699572"/>
            <a:ext cx="4334480" cy="171474"/>
          </a:xfrm>
          <a:prstGeom prst="rect">
            <a:avLst/>
          </a:prstGeom>
        </p:spPr>
      </p:pic>
      <p:pic>
        <p:nvPicPr>
          <p:cNvPr id="27" name="Grafik 26">
            <a:extLst>
              <a:ext uri="{FF2B5EF4-FFF2-40B4-BE49-F238E27FC236}">
                <a16:creationId xmlns:a16="http://schemas.microsoft.com/office/drawing/2014/main" id="{E65115AE-4014-CA8E-DD69-C1FE5086BF4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47196" y="1218369"/>
            <a:ext cx="676369" cy="133369"/>
          </a:xfrm>
          <a:prstGeom prst="rect">
            <a:avLst/>
          </a:prstGeom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A106C01D-0B87-BC21-F846-FA54A6D9120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04313" y="1804902"/>
            <a:ext cx="581106" cy="209579"/>
          </a:xfrm>
          <a:prstGeom prst="rect">
            <a:avLst/>
          </a:prstGeom>
        </p:spPr>
      </p:pic>
      <p:pic>
        <p:nvPicPr>
          <p:cNvPr id="31" name="Grafik 30">
            <a:extLst>
              <a:ext uri="{FF2B5EF4-FFF2-40B4-BE49-F238E27FC236}">
                <a16:creationId xmlns:a16="http://schemas.microsoft.com/office/drawing/2014/main" id="{AEC9F7FA-5B82-A33E-AD16-AAE9F57EE86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54096" y="1154227"/>
            <a:ext cx="2076740" cy="161948"/>
          </a:xfrm>
          <a:prstGeom prst="rect">
            <a:avLst/>
          </a:prstGeom>
        </p:spPr>
      </p:pic>
      <p:pic>
        <p:nvPicPr>
          <p:cNvPr id="33" name="Grafik 32">
            <a:extLst>
              <a:ext uri="{FF2B5EF4-FFF2-40B4-BE49-F238E27FC236}">
                <a16:creationId xmlns:a16="http://schemas.microsoft.com/office/drawing/2014/main" id="{F82223D5-2B4E-D575-FF71-41B2724F44B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23838" y="3324210"/>
            <a:ext cx="5544324" cy="209579"/>
          </a:xfrm>
          <a:prstGeom prst="rect">
            <a:avLst/>
          </a:prstGeom>
        </p:spPr>
      </p:pic>
      <p:pic>
        <p:nvPicPr>
          <p:cNvPr id="35" name="Grafik 34">
            <a:extLst>
              <a:ext uri="{FF2B5EF4-FFF2-40B4-BE49-F238E27FC236}">
                <a16:creationId xmlns:a16="http://schemas.microsoft.com/office/drawing/2014/main" id="{6CBFE82B-04E0-E2C5-B5B4-5CAF8D0CAE8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25762" y="3719423"/>
            <a:ext cx="4382112" cy="152421"/>
          </a:xfrm>
          <a:prstGeom prst="rect">
            <a:avLst/>
          </a:prstGeom>
        </p:spPr>
      </p:pic>
      <p:pic>
        <p:nvPicPr>
          <p:cNvPr id="37" name="Grafik 36">
            <a:extLst>
              <a:ext uri="{FF2B5EF4-FFF2-40B4-BE49-F238E27FC236}">
                <a16:creationId xmlns:a16="http://schemas.microsoft.com/office/drawing/2014/main" id="{B0CFEFBE-FD01-5A4D-0C20-E5F6CE5A4A3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76026" y="3002015"/>
            <a:ext cx="1800476" cy="190527"/>
          </a:xfrm>
          <a:prstGeom prst="rect">
            <a:avLst/>
          </a:prstGeom>
        </p:spPr>
      </p:pic>
      <p:pic>
        <p:nvPicPr>
          <p:cNvPr id="39" name="Grafik 38">
            <a:extLst>
              <a:ext uri="{FF2B5EF4-FFF2-40B4-BE49-F238E27FC236}">
                <a16:creationId xmlns:a16="http://schemas.microsoft.com/office/drawing/2014/main" id="{14473458-11A7-1652-B6D2-F58D751EFEF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04366" y="4117825"/>
            <a:ext cx="3543795" cy="190527"/>
          </a:xfrm>
          <a:prstGeom prst="rect">
            <a:avLst/>
          </a:prstGeom>
        </p:spPr>
      </p:pic>
      <p:pic>
        <p:nvPicPr>
          <p:cNvPr id="41" name="Grafik 40">
            <a:extLst>
              <a:ext uri="{FF2B5EF4-FFF2-40B4-BE49-F238E27FC236}">
                <a16:creationId xmlns:a16="http://schemas.microsoft.com/office/drawing/2014/main" id="{1D655C88-483D-3A88-92A7-74F7E9CAB58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45000" y="1339815"/>
            <a:ext cx="695422" cy="219106"/>
          </a:xfrm>
          <a:prstGeom prst="rect">
            <a:avLst/>
          </a:prstGeom>
        </p:spPr>
      </p:pic>
      <p:pic>
        <p:nvPicPr>
          <p:cNvPr id="43" name="Grafik 42">
            <a:extLst>
              <a:ext uri="{FF2B5EF4-FFF2-40B4-BE49-F238E27FC236}">
                <a16:creationId xmlns:a16="http://schemas.microsoft.com/office/drawing/2014/main" id="{58F63C61-A3FF-938F-1A87-F9F9503E86F0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773658" y="1756989"/>
            <a:ext cx="733527" cy="190527"/>
          </a:xfrm>
          <a:prstGeom prst="rect">
            <a:avLst/>
          </a:prstGeom>
        </p:spPr>
      </p:pic>
      <p:pic>
        <p:nvPicPr>
          <p:cNvPr id="47" name="Grafik 46">
            <a:extLst>
              <a:ext uri="{FF2B5EF4-FFF2-40B4-BE49-F238E27FC236}">
                <a16:creationId xmlns:a16="http://schemas.microsoft.com/office/drawing/2014/main" id="{FFB40A49-1625-4E2C-DD67-088F9FE745F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07139" y="1058264"/>
            <a:ext cx="2010056" cy="2505425"/>
          </a:xfrm>
          <a:prstGeom prst="rect">
            <a:avLst/>
          </a:prstGeom>
        </p:spPr>
      </p:pic>
      <p:pic>
        <p:nvPicPr>
          <p:cNvPr id="49" name="Grafik 48">
            <a:extLst>
              <a:ext uri="{FF2B5EF4-FFF2-40B4-BE49-F238E27FC236}">
                <a16:creationId xmlns:a16="http://schemas.microsoft.com/office/drawing/2014/main" id="{918E39D3-8866-3479-F243-3E630D3CEE1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987581" y="231820"/>
            <a:ext cx="2715005" cy="5540389"/>
          </a:xfrm>
          <a:prstGeom prst="rect">
            <a:avLst/>
          </a:prstGeom>
        </p:spPr>
      </p:pic>
      <p:pic>
        <p:nvPicPr>
          <p:cNvPr id="51" name="Grafik 50">
            <a:extLst>
              <a:ext uri="{FF2B5EF4-FFF2-40B4-BE49-F238E27FC236}">
                <a16:creationId xmlns:a16="http://schemas.microsoft.com/office/drawing/2014/main" id="{C943F42B-DA1D-472D-CEA2-6473211FBAB2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83894" y="5181014"/>
            <a:ext cx="8003049" cy="1045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4685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201</Words>
  <Application>Microsoft Office PowerPoint</Application>
  <PresentationFormat>Breitbild</PresentationFormat>
  <Paragraphs>53</Paragraphs>
  <Slides>13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17" baseType="lpstr">
      <vt:lpstr>Arial</vt:lpstr>
      <vt:lpstr>Trebuchet MS</vt:lpstr>
      <vt:lpstr>Wingdings 3</vt:lpstr>
      <vt:lpstr>Facette</vt:lpstr>
      <vt:lpstr>JavaScript</vt:lpstr>
      <vt:lpstr>Gliederung</vt:lpstr>
      <vt:lpstr>Was ist JavaScript</vt:lpstr>
      <vt:lpstr>PowerPoint-Präsentation</vt:lpstr>
      <vt:lpstr>JavaScript und Browser</vt:lpstr>
      <vt:lpstr>PowerPoint-Präsentation</vt:lpstr>
      <vt:lpstr>Grundlagen</vt:lpstr>
      <vt:lpstr>PowerPoint-Präsentation</vt:lpstr>
      <vt:lpstr>PowerPoint-Präsentation</vt:lpstr>
      <vt:lpstr>PowerPoint-Präsentation</vt:lpstr>
      <vt:lpstr>Kleine Zusammenfassung + Fazit</vt:lpstr>
      <vt:lpstr>          Beispielaufgabe  Stelle die Website mit den vorhandenen Bausteinen Zusammen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Kreutzer Jonas</dc:creator>
  <cp:lastModifiedBy>Kreutzer Jonas</cp:lastModifiedBy>
  <cp:revision>2</cp:revision>
  <dcterms:created xsi:type="dcterms:W3CDTF">2026-03-20T07:11:58Z</dcterms:created>
  <dcterms:modified xsi:type="dcterms:W3CDTF">2026-03-31T11:28:29Z</dcterms:modified>
</cp:coreProperties>
</file>